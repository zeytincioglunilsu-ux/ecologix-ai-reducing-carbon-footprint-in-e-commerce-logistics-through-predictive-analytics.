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5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notesSlides/notesSlide6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notesSlides/notesSlide7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5"/>
  </p:notesMasterIdLst>
  <p:sldIdLst>
    <p:sldId id="288" r:id="rId5"/>
    <p:sldId id="269" r:id="rId6"/>
    <p:sldId id="294" r:id="rId7"/>
    <p:sldId id="295" r:id="rId8"/>
    <p:sldId id="296" r:id="rId9"/>
    <p:sldId id="297" r:id="rId10"/>
    <p:sldId id="300" r:id="rId11"/>
    <p:sldId id="298" r:id="rId12"/>
    <p:sldId id="299" r:id="rId13"/>
    <p:sldId id="293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9DF855-2044-4378-D382-97019082214F}" name="Eda nur Saruhan" initials="" userId="S::eda.nur.saruhan@undp.org::c5d9941d-5539-4cc6-837d-40b768a4e45a" providerId="AD"/>
  <p188:author id="{5773C6ED-D5C0-6998-8565-4039F0794B89}" name="carlosnieto_r@hotmail.com" initials="ca" userId="S::urn:spo:guest#carlosnieto_r@hotmail.com::" providerId="AD"/>
  <p188:author id="{AD2977F2-1110-00CA-B921-CFBBF1E22859}" name="Ipek Beril Benli" initials="IB" userId="S::ipek.beril.benli@undp.org::8f9c5f4b-b22c-49ff-bdd5-d07e276074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2A49"/>
    <a:srgbClr val="4618DE"/>
    <a:srgbClr val="6E1E90"/>
    <a:srgbClr val="F04A23"/>
    <a:srgbClr val="EE482C"/>
    <a:srgbClr val="4617DE"/>
    <a:srgbClr val="FE2E46"/>
    <a:srgbClr val="9D67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28DBCA-7873-493E-BD09-549917A91DE4}" v="105" dt="2026-06-01T20:19:43.056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EBCC"/>
          </a:solidFill>
        </a:fill>
      </a:tcStyle>
    </a:wholeTbl>
    <a:band2H>
      <a:tcTxStyle/>
      <a:tcStyle>
        <a:tcBdr/>
        <a:fill>
          <a:solidFill>
            <a:srgbClr val="FFF5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firstCol>
    <a:la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508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254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4E2"/>
          </a:solidFill>
        </a:fill>
      </a:tcStyle>
    </a:wholeTbl>
    <a:band2H>
      <a:tcTxStyle/>
      <a:tcStyle>
        <a:tcBdr/>
        <a:fill>
          <a:solidFill>
            <a:srgbClr val="E9EBF1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FEFFFE"/>
              </a:solidFill>
              <a:prstDash val="solid"/>
              <a:round/>
            </a:ln>
          </a:top>
          <a:bottom>
            <a:ln w="25400" cap="flat">
              <a:solidFill>
                <a:srgbClr val="FEFF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EFFFE"/>
              </a:solidFill>
              <a:prstDash val="solid"/>
              <a:round/>
            </a:ln>
          </a:top>
          <a:bottom>
            <a:ln w="25400" cap="flat">
              <a:solidFill>
                <a:srgbClr val="FEFF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068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66" name="Shape 46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9769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CDEE7-B1C7-B77E-9460-BDE95D7C0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69F37EDA-5D74-3B16-92DD-CF07C25829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1B60B6DF-8EAE-1B03-A620-A4433DA2AE70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6674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A7C2E-EBAA-1BDE-FCD9-9C8AB269A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247FD5B4-2DF6-DCB8-6709-171B39B0EB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D9FCBFE0-A071-C3C4-7BC6-CAF8CD736CD0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8052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37F58-0EE9-57C0-F23D-6FA1D86FE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9F7A9DA8-F123-49A4-2DB2-34A3BFE92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72FD127C-9986-32AC-ABA6-7C8323B33271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5687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86882-91D5-E30B-CDA7-8347FDDFF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ABB68E14-0D97-6D3D-9800-C8F2EF0E79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9791969B-46BF-1D96-2893-C97A92F67FC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8441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3F45B-8B02-C5DD-D869-93034876B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AD5E7362-F7D3-FFB6-04DC-5636B37CC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E6C4D10E-6A8B-C14B-2663-3F8F2EB11C2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67330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E4114-9B89-AA4D-2458-D97F667E1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02190088-3BA2-17A5-7904-AD57320021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0AD0FBAF-AF1B-AAE1-C5CC-957B86E8FC7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4064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6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9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2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0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4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9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3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206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0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5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7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280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8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9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15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1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3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2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3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50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0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1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2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6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6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76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7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9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400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0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1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12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35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3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4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4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5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478B4-4C54-AF5B-2929-7967B5D7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653" y="1153987"/>
            <a:ext cx="10112695" cy="9212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1BF71-B4F8-FDC2-D3CE-E4B9824A5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653" y="2087362"/>
            <a:ext cx="4919546" cy="408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507F9-B1BA-85ED-15EE-A276F4A78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2802" y="2087362"/>
            <a:ext cx="4919546" cy="4089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B9351-FBE6-F588-FD07-6D67A6545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315B8-57CD-1150-8FD7-9FACD2173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E19A3-55D2-9FA5-AA5A-7331BF60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44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1049144" y="2007218"/>
            <a:ext cx="10093712" cy="4169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039653" y="1064778"/>
            <a:ext cx="10112696" cy="92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  <p:sldLayoutId id="2147483680" r:id="rId28"/>
    <p:sldLayoutId id="2147483681" r:id="rId29"/>
    <p:sldLayoutId id="2147483682" r:id="rId30"/>
    <p:sldLayoutId id="2147483683" r:id="rId31"/>
    <p:sldLayoutId id="2147483684" r:id="rId32"/>
    <p:sldLayoutId id="2147483685" r:id="rId33"/>
    <p:sldLayoutId id="2147483686" r:id="rId34"/>
    <p:sldLayoutId id="2147483687" r:id="rId35"/>
    <p:sldLayoutId id="2147483688" r:id="rId36"/>
    <p:sldLayoutId id="2147483689" r:id="rId3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customXml" Target="../ink/ink1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0" Type="http://schemas.openxmlformats.org/officeDocument/2006/relationships/customXml" Target="../ink/ink2.xml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customXml" Target="../ink/ink3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0" Type="http://schemas.openxmlformats.org/officeDocument/2006/relationships/customXml" Target="../ink/ink4.xml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customXml" Target="../ink/ink5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0" Type="http://schemas.openxmlformats.org/officeDocument/2006/relationships/customXml" Target="../ink/ink6.xml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customXml" Target="../ink/ink7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0" Type="http://schemas.openxmlformats.org/officeDocument/2006/relationships/customXml" Target="../ink/ink8.xml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customXml" Target="../ink/ink9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0" Type="http://schemas.openxmlformats.org/officeDocument/2006/relationships/customXml" Target="../ink/ink10.xml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customXml" Target="../ink/ink11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0" Type="http://schemas.openxmlformats.org/officeDocument/2006/relationships/customXml" Target="../ink/ink12.xml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customXml" Target="../ink/ink13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0" Type="http://schemas.openxmlformats.org/officeDocument/2006/relationships/customXml" Target="../ink/ink14.xml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2B76E6-D951-3835-676B-70686EF8C2F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UNDP ve Samsung'un kadınlara yönelik yapay zeka sınıfı ilk mezunlarını  verdi | United Nations Development Programme">
            <a:extLst>
              <a:ext uri="{FF2B5EF4-FFF2-40B4-BE49-F238E27FC236}">
                <a16:creationId xmlns:a16="http://schemas.microsoft.com/office/drawing/2014/main" id="{920910B4-C648-91B9-56BA-B826DB8C0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 new generation…">
            <a:extLst>
              <a:ext uri="{FF2B5EF4-FFF2-40B4-BE49-F238E27FC236}">
                <a16:creationId xmlns:a16="http://schemas.microsoft.com/office/drawing/2014/main" id="{DC7A9B64-AA84-4ACD-D44E-416503901C71}"/>
              </a:ext>
            </a:extLst>
          </p:cNvPr>
          <p:cNvSpPr txBox="1"/>
          <p:nvPr/>
        </p:nvSpPr>
        <p:spPr>
          <a:xfrm>
            <a:off x="113558" y="3982167"/>
            <a:ext cx="3572617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en-US" sz="3700" b="1" dirty="0" err="1">
                <a:solidFill>
                  <a:schemeClr val="accent2"/>
                </a:solidFill>
                <a:sym typeface="Myriad Pro Semibold"/>
              </a:rPr>
              <a:t>EcoLogix</a:t>
            </a:r>
            <a:r>
              <a:rPr lang="en-US" sz="3700" b="1" dirty="0">
                <a:solidFill>
                  <a:schemeClr val="accent2"/>
                </a:solidFill>
                <a:sym typeface="Myriad Pro Semibold"/>
              </a:rPr>
              <a:t> AI</a:t>
            </a:r>
            <a:endParaRPr b="1" dirty="0">
              <a:solidFill>
                <a:schemeClr val="tx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988049007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517029" y="98034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Background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2A510B2-9281-819E-67DF-19F4FCE543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10953" y="133612"/>
            <a:ext cx="2657222" cy="1178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D7B6D0-FF78-870E-52CA-8E737ADD32F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3218" y="1683372"/>
            <a:ext cx="3838069" cy="568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A7BC30-D2F1-06A9-D22C-3794449ACA5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269A5131-7413-453F-BF15-0BD8E6E11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323" y="2600675"/>
            <a:ext cx="12139862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Identity: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EcoLogix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AI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leverages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advanced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predictive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analytics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minimize e-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commerce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logistics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carbon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emissions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Data Source: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Sourced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from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Kaggle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(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Green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Logistics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 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Carbon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Footprint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for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E-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commerce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),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containing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12,000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transaction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records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Core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Inputs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Integrates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vehicle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types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distance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package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weight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weather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metrics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traffic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volume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tr-TR" altLang="tr-TR" dirty="0">
              <a:solidFill>
                <a:schemeClr val="bg1"/>
              </a:solidFill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DEE6F79-5920-2942-C9BB-A2EB01C70E57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222323" y="3752040"/>
            <a:ext cx="11896725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Problem: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logistics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industry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is 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primary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driver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of global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emissions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yet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traditional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routing model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priorities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are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limited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speed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operational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cost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Project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Evolution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Began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with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baseline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linear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regression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testing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basic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distance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impacts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Advanced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multi-source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architecture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merging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climate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traffic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vehicle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data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layers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tr-TR" altLang="tr-TR" sz="1800" dirty="0">
              <a:solidFill>
                <a:schemeClr val="bg1"/>
              </a:solidFill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9E97181E-2DA6-C580-740E-594FE5C04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" y="5174628"/>
            <a:ext cx="11117146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SDG 13 (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Climate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Action):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Quantifies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drives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corporate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fleet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transformation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hit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carbon-offset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targets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SDG 9 (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Industry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&amp;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Infrastructure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):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Implements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data-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driven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AI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frameworks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replace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intuitive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inefficient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planning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SDG 11 (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Sustainable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Cities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):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Targets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"Urban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Last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Mile"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inefficiencies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directly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decrease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city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air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pollution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21123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42393-56A6-FAE8-1009-785389D12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>
            <a:extLst>
              <a:ext uri="{FF2B5EF4-FFF2-40B4-BE49-F238E27FC236}">
                <a16:creationId xmlns:a16="http://schemas.microsoft.com/office/drawing/2014/main" id="{F7059213-F969-4FAC-22C4-4EF888A7C1E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481196" y="2963284"/>
            <a:ext cx="8007631" cy="869546"/>
          </a:xfrm>
          <a:prstGeom prst="rect">
            <a:avLst/>
          </a:prstGeom>
        </p:spPr>
        <p:txBody>
          <a:bodyPr lIns="45719" tIns="45720" rIns="45719" bIns="45720" anchor="ctr">
            <a:normAutofit fontScale="25000" lnSpcReduction="20000"/>
          </a:bodyPr>
          <a:lstStyle/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tr-TR" sz="7200" b="1" dirty="0">
                <a:solidFill>
                  <a:srgbClr val="0070C0"/>
                </a:solidFill>
                <a:latin typeface="Google Sans"/>
                <a:sym typeface="Merriweather Sans Light"/>
              </a:rPr>
              <a:t>Project </a:t>
            </a:r>
            <a:r>
              <a:rPr lang="tr-TR" sz="7200" b="1" dirty="0" err="1">
                <a:solidFill>
                  <a:srgbClr val="0070C0"/>
                </a:solidFill>
                <a:latin typeface="Google Sans"/>
                <a:sym typeface="Merriweather Sans Light"/>
              </a:rPr>
              <a:t>Objectives</a:t>
            </a:r>
            <a:endParaRPr lang="tr-TR" sz="7200" b="1" dirty="0">
              <a:solidFill>
                <a:srgbClr val="0070C0"/>
              </a:solidFill>
              <a:latin typeface="Google Sans"/>
              <a:sym typeface="Merriweather Sans Light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tr-TR" sz="7200" dirty="0">
                <a:latin typeface="Google Sans"/>
                <a:sym typeface="Merriweather Sans Light"/>
              </a:rPr>
              <a:t>Minimize </a:t>
            </a:r>
            <a:r>
              <a:rPr lang="tr-TR" sz="7200" dirty="0" err="1">
                <a:latin typeface="Google Sans"/>
                <a:sym typeface="Merriweather Sans Light"/>
              </a:rPr>
              <a:t>Footprint</a:t>
            </a:r>
            <a:endParaRPr lang="tr-TR" sz="7200" dirty="0">
              <a:latin typeface="Google Sans"/>
              <a:sym typeface="Merriweather Sans Light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tr-TR" sz="7200" dirty="0" err="1">
                <a:latin typeface="Google Sans"/>
                <a:sym typeface="Merriweather Sans Light"/>
              </a:rPr>
              <a:t>Fleet</a:t>
            </a:r>
            <a:r>
              <a:rPr lang="tr-TR" sz="7200" dirty="0">
                <a:latin typeface="Google Sans"/>
                <a:sym typeface="Merriweather Sans Light"/>
              </a:rPr>
              <a:t> </a:t>
            </a:r>
            <a:r>
              <a:rPr lang="tr-TR" sz="7200" dirty="0" err="1">
                <a:latin typeface="Google Sans"/>
                <a:sym typeface="Merriweather Sans Light"/>
              </a:rPr>
              <a:t>Transformation</a:t>
            </a:r>
            <a:endParaRPr lang="tr-TR" sz="7200" dirty="0">
              <a:latin typeface="Google Sans"/>
              <a:sym typeface="Merriweather Sans Light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tr-TR" sz="7200" dirty="0" err="1">
                <a:latin typeface="Google Sans"/>
                <a:sym typeface="Merriweather Sans Light"/>
              </a:rPr>
              <a:t>Infrastructure</a:t>
            </a:r>
            <a:r>
              <a:rPr lang="tr-TR" sz="7200" dirty="0">
                <a:latin typeface="Google Sans"/>
                <a:sym typeface="Merriweather Sans Light"/>
              </a:rPr>
              <a:t> </a:t>
            </a:r>
            <a:r>
              <a:rPr lang="tr-TR" sz="7200" dirty="0" err="1">
                <a:latin typeface="Google Sans"/>
                <a:sym typeface="Merriweather Sans Light"/>
              </a:rPr>
              <a:t>Strategy</a:t>
            </a:r>
            <a:endParaRPr lang="tr-TR" sz="7200" dirty="0">
              <a:latin typeface="Google Sans"/>
              <a:sym typeface="Merriweather Sans Light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tr-TR" sz="7200" dirty="0">
                <a:latin typeface="Google Sans"/>
                <a:sym typeface="Merriweather Sans Light"/>
              </a:rPr>
              <a:t>SDG </a:t>
            </a:r>
            <a:r>
              <a:rPr lang="tr-TR" sz="7200" dirty="0" err="1">
                <a:latin typeface="Google Sans"/>
                <a:sym typeface="Merriweather Sans Light"/>
              </a:rPr>
              <a:t>Alignment</a:t>
            </a:r>
            <a:endParaRPr lang="tr-TR" sz="7200" dirty="0">
              <a:latin typeface="Google Sans"/>
              <a:sym typeface="Merriweather Sans Light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tr-TR" sz="5600" dirty="0">
              <a:sym typeface="Merriweather Sans Light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tr-TR" sz="5600" dirty="0">
              <a:sym typeface="Merriweather Sans Light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5600" b="1" dirty="0">
              <a:latin typeface="Microsoft YaHei Light"/>
            </a:endParaRPr>
          </a:p>
        </p:txBody>
      </p:sp>
      <p:sp>
        <p:nvSpPr>
          <p:cNvPr id="493" name="Title 1">
            <a:extLst>
              <a:ext uri="{FF2B5EF4-FFF2-40B4-BE49-F238E27FC236}">
                <a16:creationId xmlns:a16="http://schemas.microsoft.com/office/drawing/2014/main" id="{3CDE49FA-4ED4-92FF-9B15-8A1FC22634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1196" y="71438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Objectives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31C23E8-AF93-8A70-2D86-5AF75855BF81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1DEC7F4A-9AF5-9B1E-EE6C-E2D759FD5AF7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A39268B-7D38-CD57-38E3-7DCF2634103B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A8A9D22-A74F-66E8-F75E-965360ECD29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A47BD7-F3B5-FB10-54F2-4B600756EC5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0396" y="1350477"/>
            <a:ext cx="3838069" cy="568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669068-0841-8EB1-FE09-87C9F0089A6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3"/>
            <a:ext cx="12194720" cy="243885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4E1D890A-EA86-90A5-7F4A-265E538A0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661" y="3968859"/>
            <a:ext cx="11668125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"/>
              </a:rPr>
              <a:t>Machine Learning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"/>
              </a:rPr>
              <a:t>Aims</a:t>
            </a:r>
            <a:endParaRPr kumimoji="0" lang="tr-TR" altLang="tr-TR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Accurate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Prediction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Build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high-explanatory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models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(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achieving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baseline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Multiple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Linear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Regression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$R^2 = 0.9087$)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accurately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forecast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delivery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carbon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footprints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($kgCO_2e$)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using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historical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Early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Warning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System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Deploy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Decision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Tree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Classifier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(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achieving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$92.4\%$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accuracy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)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automatically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flag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categorize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high-emission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routes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before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execution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Mitigate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Multicollinearity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Engineer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highly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stable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Ridge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Regression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architecture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smoothly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handle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complex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multi-source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data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parameters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without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overfitting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Isolate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Variance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Extract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feature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importance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metrics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mathematically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isolate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how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traffic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volume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climate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stress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modify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baseline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emissions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56442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74921-5571-7077-D240-6CD9712EE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itle 1">
            <a:extLst>
              <a:ext uri="{FF2B5EF4-FFF2-40B4-BE49-F238E27FC236}">
                <a16:creationId xmlns:a16="http://schemas.microsoft.com/office/drawing/2014/main" id="{703BC68D-2B86-F903-1E3D-7D0510EC72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SDG </a:t>
            </a: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Relation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0911266-561D-F218-121A-7BE110544FEB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5C0F4950-A704-2BB1-5275-A1199F349DA4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8E2302A-B3FE-DFFB-2B98-ABF3A3D18271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DD63C00-D6E8-BFFE-6786-7035ADDA026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002445-DED0-BF6F-2AB5-FBBBF88B75D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6118" y="2251881"/>
            <a:ext cx="3838069" cy="568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38D44E-A43F-E916-3BAE-7FB4252E1C4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9D2B0B2-7A49-DDA7-7A8A-FC5FC1F67737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640854" y="3268290"/>
            <a:ext cx="8738096" cy="2539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SDG 13 (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Climate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Action):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Minimizes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logistical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carbon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footprint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($kgCO_2e$)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replacing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traditional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cost-only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routing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with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predictive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AI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analytics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SDG 9 (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Industry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Innovation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&amp;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Infrastructure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):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Integrates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complex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multi-source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data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architectures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(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traffic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weather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fleet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specs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)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deploy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automated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green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routing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frameworks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SDG 11 (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Sustainable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Cities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&amp;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Communities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):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Focuses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on "Urban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Last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Mile" data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reduce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city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traffic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congestion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idle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fuel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waste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localized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air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pollution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Managerial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Impact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Provides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mathematical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backing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needed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justify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corporate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investments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in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green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fleet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procurement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micro-fulfillment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centers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11364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2EE2B-4051-FD73-F177-2393B2FBC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>
            <a:extLst>
              <a:ext uri="{FF2B5EF4-FFF2-40B4-BE49-F238E27FC236}">
                <a16:creationId xmlns:a16="http://schemas.microsoft.com/office/drawing/2014/main" id="{BFF2A528-A986-AE7B-48C6-B1D944E5660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1187861" y="7601940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latin typeface="Microsoft YaHei Light"/>
              </a:rPr>
              <a:t>​</a:t>
            </a:r>
          </a:p>
        </p:txBody>
      </p:sp>
      <p:sp>
        <p:nvSpPr>
          <p:cNvPr id="493" name="Title 1">
            <a:extLst>
              <a:ext uri="{FF2B5EF4-FFF2-40B4-BE49-F238E27FC236}">
                <a16:creationId xmlns:a16="http://schemas.microsoft.com/office/drawing/2014/main" id="{21FEEF04-43E8-C2E1-AA49-27BDBBEDA8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6118" y="1143899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Data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9E654A3-8FAB-54A5-9370-FCEA74EFC646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0B56A6F-0668-11B2-348C-1408265457BE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1E2DB7E-598F-2F84-76FF-939142FCDABF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34FD5BD-0FCF-C116-1612-EF7BF26F10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919316-4BA8-B4AC-341E-E49251BB2B0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6118" y="1781540"/>
            <a:ext cx="3838069" cy="568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2B3A5C-05A4-75FB-F371-76329ED8400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7DD1356-71A2-8ADA-BF11-5A4CB326E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68" y="2651086"/>
            <a:ext cx="11420517" cy="39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Data Source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Primary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Source: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Sourced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from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Kaggle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(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Green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Logistics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 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Carbon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Footprint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for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E-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commerce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Volume: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Comprises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12,000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transaction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rows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of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core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e-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commerce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delivery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logs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Preprocessing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 &amp; Multi-Source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Data Integration: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Expanded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core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dataset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left-joining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external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traffic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congestion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layers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climatic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friction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data,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engine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emission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baselines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Missing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Value Handling: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Handled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missing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integration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values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using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mean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imputation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numerical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variables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mode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imputation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categorical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attributes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Feature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Transformation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Applied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Label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Encoding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categorical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variables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(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like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Vehicle_Type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)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standardized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numerical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elements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using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StandardScaler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Feature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Engineering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Developed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advanced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operational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density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interaction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terms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including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distance-to-weight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traffic-distance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parameters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49436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5E3D3-A246-1FBF-1036-07B63BBBF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itle 1">
            <a:extLst>
              <a:ext uri="{FF2B5EF4-FFF2-40B4-BE49-F238E27FC236}">
                <a16:creationId xmlns:a16="http://schemas.microsoft.com/office/drawing/2014/main" id="{4B23841E-5808-5E04-2CC0-9E5C4654A1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711" y="921828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 fontScale="90000"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Model Selection and Training</a:t>
            </a: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/</a:t>
            </a: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Testing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A7A9FBD-9C91-0E31-84AA-C64E18617A43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ED1211A4-BEC4-6DF1-5C11-FAEB7B9A7D60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17B9DCC-567A-6B1C-0771-F88670B3DA29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3D5BFC0-AF58-A44A-97F7-B33040056F7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E0608D-2B53-EA16-F337-45EFE96C937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5679" y="1603637"/>
            <a:ext cx="3838069" cy="568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9CB8EE-A636-6ECA-D5AE-93CCF86A34A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A22A3A1-4757-145D-71A3-C917A4FA307A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383279" y="2630456"/>
            <a:ext cx="11376479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Model Training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Details</a:t>
            </a:r>
            <a:endParaRPr kumimoji="0" lang="tr-TR" altLang="tr-TR" sz="18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Data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Split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dataset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was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partitioned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an 80%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training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set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 20% test set.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Encoding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Categorical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variables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like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Vehicle_Type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were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transformed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using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Label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Encoding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Scaling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Numerical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features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were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standardized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using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StandardScaler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optimize model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convergence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Advanced Setup: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mathematically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stable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Ridge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Regression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model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was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built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handle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matrix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of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over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12,000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engineered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column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variables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eliminate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multicollinearity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580398-29B6-7C72-07D6-46B4BB9A6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279" y="4459719"/>
            <a:ext cx="11721635" cy="1985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Suggested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Slide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Visualizations</a:t>
            </a:r>
            <a:endParaRPr kumimoji="0" lang="tr-TR" altLang="tr-TR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Actual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vs.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Predicted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Plot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scatter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plot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demonstrating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strong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positive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linear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relationship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between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delivery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distance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emissions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Error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Distribution Histogram: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residual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plot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showing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distribution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of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prediction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errors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concentrated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near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zero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Feature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Importance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Bar Chart: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visual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ranking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proving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that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distance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vehicle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type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dictate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baseline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while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traffic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weather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modify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variance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85764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50D09835-86F4-829C-3632-58BCF6E04A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1" r="1" b="1"/>
          <a:stretch>
            <a:fillRect/>
          </a:stretch>
        </p:blipFill>
        <p:spPr>
          <a:xfrm>
            <a:off x="795870" y="268515"/>
            <a:ext cx="10934091" cy="61504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280648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50125-0EAB-7433-9BD1-9F8A06B6E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itle 1">
            <a:extLst>
              <a:ext uri="{FF2B5EF4-FFF2-40B4-BE49-F238E27FC236}">
                <a16:creationId xmlns:a16="http://schemas.microsoft.com/office/drawing/2014/main" id="{25214560-EDB1-BDFF-BB93-4B37828325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781" y="314284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Evaluation </a:t>
            </a: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Results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607FB31-9E71-D065-EB98-84E98B7CEE89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34920EB0-ED1C-F718-FB33-2DB2FB707CBD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6AF9B99-B034-D6BB-2CEC-380157A76D75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5837826-A4BA-D674-8A4C-EE99873D0AF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40435" y="173600"/>
            <a:ext cx="2657222" cy="1178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F9A128-30E3-3337-5E8D-B82A8276397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8750" y="956364"/>
            <a:ext cx="3838069" cy="568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50C84C-A3C4-1F6F-C50F-834AAEBBD54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CD37482-88FC-3C86-A9E4-A67EC52B78BA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358782" y="1618848"/>
            <a:ext cx="11078936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1.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Key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Analytical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Findings</a:t>
            </a:r>
            <a:endParaRPr kumimoji="0" lang="tr-TR" altLang="tr-TR" sz="18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Strong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Correlations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Delivery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distance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shares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 dominant 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0.95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correlation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with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emissions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;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package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weight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holds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strong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0.79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correlation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Emission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Outliers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Most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operations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have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low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footprint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but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heavy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truck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usage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drives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extreme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spikes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up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1,280 kgCO2e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Fleet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Neutralization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Transitioning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electric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vans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(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EVs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)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drones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effectively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drops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emission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profiles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near-zero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levels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Traffic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&amp;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Climate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Friction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Feature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importance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proves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severe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congestion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extreme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weather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geometrically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inflate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emission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rates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84B009A0-52B5-D18A-7529-E5C6978FB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82" y="4180343"/>
            <a:ext cx="11296189" cy="2539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"/>
              </a:rPr>
              <a:t>2. Strategic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"/>
              </a:rPr>
              <a:t>Decisions</a:t>
            </a:r>
            <a:endParaRPr kumimoji="0" lang="tr-TR" altLang="tr-TR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Fleet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Transformation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Quantified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data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provides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financial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corporate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justification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green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fleet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procurement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Decentralized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Hubs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High stop-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-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urban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friction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demands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implementation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of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localized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micro-fulfillment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centers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Lightweight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Packaging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High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carbon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penalties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on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bulky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items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validate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urgency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lightweight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packaging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initiatives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AI Routing Software: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Real-time, AI-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driven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routing is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essential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mitigate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operational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costs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from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gridlock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environmental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stress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57985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7EE49-26FB-FE42-C405-FDE9952E8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itle 1">
            <a:extLst>
              <a:ext uri="{FF2B5EF4-FFF2-40B4-BE49-F238E27FC236}">
                <a16:creationId xmlns:a16="http://schemas.microsoft.com/office/drawing/2014/main" id="{D17768CE-A33E-DF56-D03E-69A57906F2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Deployment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BEA1273-D078-5363-F4F9-DB5E45A754B5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776B834A-1672-E504-FA55-273D4A0EA76E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D3DE01A-3AEA-898F-A7BA-6182A2051DCE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14FF932-CF8F-A315-DC7A-2878D763E22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F3A94E-6C00-6DEB-F06A-45C060C0982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6118" y="2251881"/>
            <a:ext cx="3838069" cy="568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BE3CA2-AD21-DC80-E685-896F474CB92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9DDBFB7-71CF-D1F7-4838-9D3CF660200F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641350" y="3406790"/>
            <a:ext cx="10834532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Automated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Early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Warning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System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Successfully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deployed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Decision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Tree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Classifier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as an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operational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gatekeeper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automatically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flag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high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-risk,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high-emission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routes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before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execution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Fleet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Transformations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Provided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empirical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data-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driven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framework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required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transition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logistics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procurement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toward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electric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vans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(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EVs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)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drones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effectively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neutralizing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route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emission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profiles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Decentralized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Node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Strategy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Mathematically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validated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implementation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of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localized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micro-fulfillment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hubs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bypass severe stop-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-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urban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traffic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bottlenecks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Real-Time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Dynamic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Routing: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Established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quantitative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framework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integrating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AI-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driven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routing software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systematically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eliminate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hidden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fuel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costs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of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traffic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climatic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friction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12066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CAF23-DD65-269F-1D8E-1CA6266C6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UNDP ve Samsung'un kadınlara yönelik yapay zeka sınıfı ilk mezunlarını  verdi | United Nations Development Programme">
            <a:extLst>
              <a:ext uri="{FF2B5EF4-FFF2-40B4-BE49-F238E27FC236}">
                <a16:creationId xmlns:a16="http://schemas.microsoft.com/office/drawing/2014/main" id="{424D67F3-3598-4FAC-91DD-AA981438E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246200F-AEC9-7D97-EAEC-3184EDC342F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b="1" dirty="0">
                <a:latin typeface="Microsoft YaHei"/>
              </a:rPr>
              <a:t>Thank you!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29611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frontiertech">
  <a:themeElements>
    <a:clrScheme name="frontiertech">
      <a:dk1>
        <a:srgbClr val="2B2551"/>
      </a:dk1>
      <a:lt1>
        <a:srgbClr val="FEFFFE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frontiertech">
  <a:themeElements>
    <a:clrScheme name="frontiertech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48239b9-95a5-4a97-b306-34e23b5f43f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341F4E807662BE479304B0F51E50B6BB" ma:contentTypeVersion="6" ma:contentTypeDescription="Yeni belge oluşturun." ma:contentTypeScope="" ma:versionID="43a7f9fe60d58c45e047eb41a5a9c091">
  <xsd:schema xmlns:xsd="http://www.w3.org/2001/XMLSchema" xmlns:xs="http://www.w3.org/2001/XMLSchema" xmlns:p="http://schemas.microsoft.com/office/2006/metadata/properties" xmlns:ns3="748239b9-95a5-4a97-b306-34e23b5f43f9" targetNamespace="http://schemas.microsoft.com/office/2006/metadata/properties" ma:root="true" ma:fieldsID="9fe23cf4cf9ad7c07a842dcb93d0635e" ns3:_="">
    <xsd:import namespace="748239b9-95a5-4a97-b306-34e23b5f43f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8239b9-95a5-4a97-b306-34e23b5f43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22449C5-8A7C-4DDF-8BBD-9834F5F8D2B3}">
  <ds:schemaRefs>
    <ds:schemaRef ds:uri="http://purl.org/dc/dcmitype/"/>
    <ds:schemaRef ds:uri="http://purl.org/dc/terms/"/>
    <ds:schemaRef ds:uri="748239b9-95a5-4a97-b306-34e23b5f43f9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FFB1A3-86F8-4D83-B399-9B6D5E293CE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64CE80-E57F-4C8F-9CF8-9E48A5D7F5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48239b9-95a5-4a97-b306-34e23b5f43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919</Words>
  <Application>Microsoft Office PowerPoint</Application>
  <PresentationFormat>Geniş ekran</PresentationFormat>
  <Paragraphs>66</Paragraphs>
  <Slides>10</Slides>
  <Notes>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10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21" baseType="lpstr">
      <vt:lpstr>Microsoft YaHei</vt:lpstr>
      <vt:lpstr>Microsoft YaHei Light</vt:lpstr>
      <vt:lpstr>Arial</vt:lpstr>
      <vt:lpstr>Calibri</vt:lpstr>
      <vt:lpstr>Calibri Light</vt:lpstr>
      <vt:lpstr>Google Sans</vt:lpstr>
      <vt:lpstr>Google Sans Text</vt:lpstr>
      <vt:lpstr>Helvetica Neue Thin</vt:lpstr>
      <vt:lpstr>Merriweather Sans Light</vt:lpstr>
      <vt:lpstr>Myriad Pro Semibold</vt:lpstr>
      <vt:lpstr>frontiertech</vt:lpstr>
      <vt:lpstr>PowerPoint Sunusu</vt:lpstr>
      <vt:lpstr>Background</vt:lpstr>
      <vt:lpstr>Objectives</vt:lpstr>
      <vt:lpstr>SDG Relation</vt:lpstr>
      <vt:lpstr>Data</vt:lpstr>
      <vt:lpstr>Model Selection and Training/Testing</vt:lpstr>
      <vt:lpstr>PowerPoint Sunusu</vt:lpstr>
      <vt:lpstr>Evaluation Results</vt:lpstr>
      <vt:lpstr>Deployment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Nil Su ZEYTİNCİOĞLU</cp:lastModifiedBy>
  <cp:revision>21</cp:revision>
  <dcterms:modified xsi:type="dcterms:W3CDTF">2026-06-01T20:19:43Z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0x010100341F4E807662BE479304B0F51E50B6BB</vt:lpwstr>
  </property>
  <property fmtid="{D5CDD505-2E9C-101B-9397-08002B2CF9AE}" pid="3" name="MediaServiceImageTags">
    <vt:lpwstr/>
  </property>
</Properties>
</file>